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0443820A-0E64-48F8-9055-FF0DD326791F}" type="slidenum">
              <a:rPr/>
              <a:t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DBAF7565-BD3D-4988-BF27-19ACCF1FF09C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BADD4291-E64D-4ACE-9606-872F71F26F53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7848800-600E-4D7C-8C16-56913FC2CB79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83F740C6-2FCF-4DC5-BD09-D174C89031A2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1523880" y="1122480"/>
            <a:ext cx="9142920" cy="110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24CE1E4F-90CD-444A-9102-28A7F8C6D4A3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54B77554-3C92-4FB0-A5BA-1538CE87444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CE45E5D0-7D09-4149-8883-20EC63A466B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5258FE-DB84-45B9-9B37-2835BC5834A2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43333E65-E319-423D-A2F3-391F9AD0C527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9A71CA36-5B07-4E7D-959F-2DAA2C004824}" type="slidenum">
              <a:rPr/>
              <a:t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69DE03-561F-4E27-872C-F6EF2C2AABB2}" type="slidenum">
              <a:rPr/>
              <a:t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 bwMode="auto"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A182F08-8818-4767-99C4-3366E5EE4C41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/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936624" y="2249261"/>
            <a:ext cx="10318749" cy="2132665"/>
          </a:xfrm>
          <a:prstGeom prst="flowChartAlternateProcess">
            <a:avLst/>
          </a:prstGeom>
          <a:solidFill>
            <a:schemeClr val="bg1">
              <a:alpha val="50999"/>
            </a:schemeClr>
          </a:solidFill>
          <a:ln w="0">
            <a:noFill/>
          </a:ln>
          <a:effectLst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p>
            <a:pPr indent="0" algn="ctr">
              <a:buNone/>
              <a:defRPr/>
            </a:pPr>
            <a:r>
              <a:rPr sz="4800" b="1" strike="noStrike" spc="0">
                <a:solidFill>
                  <a:schemeClr val="tx1"/>
                </a:solidFill>
                <a:latin typeface="Liberation Sans"/>
                <a:cs typeface="Liberation Sans"/>
              </a:rPr>
              <a:t>Курсовой проект</a:t>
            </a:r>
            <a:br>
              <a:rPr sz="4800" b="1" strike="noStrike" spc="0">
                <a:solidFill>
                  <a:schemeClr val="tx1"/>
                </a:solidFill>
                <a:latin typeface="Liberation Sans"/>
                <a:cs typeface="Liberation Sans"/>
              </a:rPr>
            </a:br>
            <a:r>
              <a:rPr sz="3600" b="1" strike="noStrike" spc="0">
                <a:solidFill>
                  <a:schemeClr val="tx1"/>
                </a:solidFill>
                <a:latin typeface="Liberation Sans"/>
                <a:cs typeface="Liberation Sans"/>
              </a:rPr>
              <a:t>«Кроссплатформенное приложение для мониторинга криптовалютного рынка»</a:t>
            </a:r>
            <a:endParaRPr sz="48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 rot="0" flipH="0" flipV="0">
            <a:off x="936624" y="5840902"/>
            <a:ext cx="10320189" cy="822784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buNone/>
              <a:defRPr/>
            </a:pPr>
            <a:r>
              <a:rPr sz="2400" b="1" strike="noStrike" spc="-1">
                <a:solidFill>
                  <a:schemeClr val="tx1"/>
                </a:solidFill>
                <a:latin typeface="Liberation Sans"/>
                <a:cs typeface="Liberation Sans"/>
              </a:rPr>
              <a:t>Выполнил: Трусенев Иван Алексеевич</a:t>
            </a:r>
            <a:br>
              <a:rPr sz="2400" b="1" strike="noStrike" spc="-1">
                <a:solidFill>
                  <a:schemeClr val="tx1"/>
                </a:solidFill>
                <a:latin typeface="Liberation Sans"/>
                <a:cs typeface="Liberation Sans"/>
              </a:rPr>
            </a:br>
            <a:r>
              <a:rPr sz="2400" b="1" strike="noStrike" spc="0">
                <a:solidFill>
                  <a:schemeClr val="tx1"/>
                </a:solidFill>
                <a:latin typeface="Liberation Sans"/>
                <a:cs typeface="Liberation Sans"/>
              </a:rPr>
              <a:t>2025-2026</a:t>
            </a:r>
            <a:endParaRPr sz="2400" b="1" strike="noStrike" spc="0">
              <a:solidFill>
                <a:schemeClr val="tx1"/>
              </a:solidFill>
              <a:latin typeface="Liberation Sans"/>
              <a:cs typeface="Liberation Sans"/>
            </a:endParaRPr>
          </a:p>
        </p:txBody>
      </p:sp>
      <p:sp>
        <p:nvSpPr>
          <p:cNvPr id="1007978420" name=""/>
          <p:cNvSpPr txBox="1"/>
          <p:nvPr/>
        </p:nvSpPr>
        <p:spPr bwMode="auto">
          <a:xfrm rot="0" flipH="0" flipV="0">
            <a:off x="936624" y="277199"/>
            <a:ext cx="10320549" cy="709691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Курс «OTUS </a:t>
            </a:r>
            <a:r>
              <a:rPr lang="ru-RU" sz="36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Flutter </a:t>
            </a:r>
            <a:r>
              <a:rPr lang="ru-RU" sz="3600" b="1" i="0" u="none" strike="noStrike" cap="none" spc="0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Mobile Developer»</a:t>
            </a:r>
            <a:endParaRPr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487643" name=""/>
          <p:cNvSpPr txBox="1"/>
          <p:nvPr/>
        </p:nvSpPr>
        <p:spPr bwMode="auto">
          <a:xfrm rot="0" flipH="0" flipV="0">
            <a:off x="360000" y="360000"/>
            <a:ext cx="11520360" cy="5573683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/>
              <a:t>Идея проекта:</a:t>
            </a:r>
            <a:endParaRPr sz="3600" b="1"/>
          </a:p>
          <a:p>
            <a:pPr marL="482137" indent="-482137">
              <a:buAutoNum type="arabicPeriod"/>
              <a:defRPr/>
            </a:pPr>
            <a:r>
              <a:rPr sz="3600"/>
              <a:t>Создать удобный инструмент для мониторинга  криптовалютного рынка который позволяет:</a:t>
            </a:r>
            <a:endParaRPr sz="3600"/>
          </a:p>
          <a:p>
            <a:pPr marL="882187" lvl="1" indent="-482137">
              <a:buAutoNum type="arabicPeriod"/>
              <a:defRPr/>
            </a:pPr>
            <a:r>
              <a:rPr sz="3600"/>
              <a:t>Отслеживать цены и их динамику</a:t>
            </a:r>
            <a:endParaRPr sz="3600"/>
          </a:p>
          <a:p>
            <a:pPr marL="882187" lvl="1" indent="-482137">
              <a:buAutoNum type="arabicPeriod"/>
              <a:defRPr/>
            </a:pPr>
            <a:r>
              <a:rPr sz="3600"/>
              <a:t>Добавлять важные активы в избранное</a:t>
            </a:r>
            <a:endParaRPr sz="3600"/>
          </a:p>
          <a:p>
            <a:pPr marL="882187" lvl="1" indent="-482137">
              <a:buAutoNum type="arabicPeriod"/>
              <a:defRPr/>
            </a:pPr>
            <a:r>
              <a:rPr sz="3600"/>
              <a:t>Работать в онлайн и офлайн режимах 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Интерфейс приложения должен быть достаточно простым, интуитивно понятным и удобным для пользователя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225486" name=""/>
          <p:cNvSpPr txBox="1"/>
          <p:nvPr/>
        </p:nvSpPr>
        <p:spPr bwMode="auto">
          <a:xfrm rot="0" flipH="0" flipV="0">
            <a:off x="360000" y="360000"/>
            <a:ext cx="11520360" cy="5573683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/>
              <a:t>Цели проекта:</a:t>
            </a:r>
            <a:endParaRPr sz="3600" b="1"/>
          </a:p>
          <a:p>
            <a:pPr marL="482137" indent="-482137">
              <a:buAutoNum type="arabicPeriod"/>
              <a:defRPr/>
            </a:pPr>
            <a:r>
              <a:rPr sz="3600"/>
              <a:t>Реализовать основные пользовательские сценарии работы с криптовалютами: п</a:t>
            </a:r>
            <a:r>
              <a:rPr sz="3600"/>
              <a:t>росмотр рынка, поиск и сортировку активов, добавление активов в избранное, график цены и др.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Исследовать архитектурные подходы во Flutter-разработке, приложение должно легко масштабироваться без необходимости  глобальной переделки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526084" name=""/>
          <p:cNvSpPr txBox="1"/>
          <p:nvPr/>
        </p:nvSpPr>
        <p:spPr bwMode="auto">
          <a:xfrm rot="0" flipH="0" flipV="0">
            <a:off x="6544800" y="241200"/>
            <a:ext cx="5400360" cy="6288282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/>
              <a:t>Экран рынка</a:t>
            </a:r>
            <a:endParaRPr sz="3600" b="1"/>
          </a:p>
          <a:p>
            <a:pPr marL="482137" indent="-482137">
              <a:buAutoNum type="arabicPeriod"/>
              <a:defRPr/>
            </a:pPr>
            <a:r>
              <a:rPr sz="2800"/>
              <a:t>Экран показывает список криптовалют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Для каждой валюты отображается цена в USD, капитализация и объем торгов за последние 24 ч.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Поддерживается поиск, сортировка, обновление экрана pull-to-refresh, постраничная загрузка при прокрутке вниз</a:t>
            </a:r>
            <a:endParaRPr sz="2800"/>
          </a:p>
        </p:txBody>
      </p:sp>
      <p:pic>
        <p:nvPicPr>
          <p:cNvPr id="11155212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084" y="1026112"/>
            <a:ext cx="5774915" cy="47111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767100" name=""/>
          <p:cNvSpPr txBox="1"/>
          <p:nvPr/>
        </p:nvSpPr>
        <p:spPr bwMode="auto">
          <a:xfrm rot="0" flipH="0" flipV="0">
            <a:off x="6544800" y="241200"/>
            <a:ext cx="5401079" cy="6288352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/>
              <a:t>Детальный экран</a:t>
            </a:r>
            <a:endParaRPr sz="3600" b="1"/>
          </a:p>
          <a:p>
            <a:pPr marL="482137" indent="-482137">
              <a:buAutoNum type="arabicPeriod"/>
              <a:defRPr/>
            </a:pPr>
            <a:r>
              <a:rPr sz="2800"/>
              <a:t>Отображается расширенная информация по активу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Визуализация изменения цены реализована в виде графика с выбором требуемого периода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Можно добавить актив в избранное и настроить  уведомление об изменении цены</a:t>
            </a:r>
            <a:endParaRPr sz="2800"/>
          </a:p>
        </p:txBody>
      </p:sp>
      <p:pic>
        <p:nvPicPr>
          <p:cNvPr id="1186777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084" y="1026112"/>
            <a:ext cx="5774915" cy="47111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116146" name=""/>
          <p:cNvSpPr txBox="1"/>
          <p:nvPr/>
        </p:nvSpPr>
        <p:spPr bwMode="auto">
          <a:xfrm rot="0" flipH="0" flipV="0">
            <a:off x="6544800" y="241200"/>
            <a:ext cx="5439959" cy="4019904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/>
              <a:t>Экран избранного</a:t>
            </a:r>
            <a:endParaRPr sz="3600" b="1"/>
          </a:p>
          <a:p>
            <a:pPr marL="482137" indent="-482137">
              <a:buAutoNum type="arabicPeriod"/>
              <a:defRPr/>
            </a:pPr>
            <a:r>
              <a:rPr sz="2800"/>
              <a:t>Экран ускоряет доступ к важным активам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Данные сохраняются локально, что позволяет просмотреть информацию в офлайн режиме</a:t>
            </a:r>
            <a:endParaRPr sz="2800"/>
          </a:p>
        </p:txBody>
      </p:sp>
      <p:pic>
        <p:nvPicPr>
          <p:cNvPr id="5569627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084" y="1026112"/>
            <a:ext cx="5774915" cy="47111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024739" name=""/>
          <p:cNvSpPr txBox="1"/>
          <p:nvPr/>
        </p:nvSpPr>
        <p:spPr bwMode="auto">
          <a:xfrm rot="0" flipH="0" flipV="0">
            <a:off x="6544800" y="241200"/>
            <a:ext cx="5401079" cy="4019904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/>
              <a:t>Экран настроек</a:t>
            </a:r>
            <a:endParaRPr sz="3600" b="1"/>
          </a:p>
          <a:p>
            <a:pPr>
              <a:defRPr/>
            </a:pPr>
            <a:r>
              <a:rPr sz="2800"/>
              <a:t>Пользователь может: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Выбрать язык интерфейса 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Выбрать тему оформления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Посмотреть информацию о приложении</a:t>
            </a:r>
            <a:endParaRPr sz="2800"/>
          </a:p>
        </p:txBody>
      </p:sp>
      <p:pic>
        <p:nvPicPr>
          <p:cNvPr id="290413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084" y="1026112"/>
            <a:ext cx="5774915" cy="47111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203806" name=""/>
          <p:cNvSpPr txBox="1"/>
          <p:nvPr/>
        </p:nvSpPr>
        <p:spPr bwMode="auto">
          <a:xfrm rot="0" flipH="0" flipV="0">
            <a:off x="360000" y="360000"/>
            <a:ext cx="11520360" cy="5573683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/>
              <a:t>Архитектурный подход:</a:t>
            </a:r>
            <a:endParaRPr sz="3600" b="1"/>
          </a:p>
          <a:p>
            <a:pPr marL="482137" indent="-482137">
              <a:buAutoNum type="arabicPeriod"/>
              <a:defRPr/>
            </a:pPr>
            <a:r>
              <a:rPr sz="3600"/>
              <a:t>Проект организован по feature-first структуре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>
                <a:solidFill>
                  <a:schemeClr val="tx1"/>
                </a:solidFill>
              </a:rPr>
              <a:t>Внутри фич применены идеи Clean Architecture: </a:t>
            </a:r>
            <a:r>
              <a:rPr sz="3600">
                <a:solidFill>
                  <a:schemeClr val="tx1"/>
                </a:solidFill>
              </a:rPr>
              <a:t>presentation</a:t>
            </a:r>
            <a:r>
              <a:rPr sz="3600">
                <a:solidFill>
                  <a:schemeClr val="tx1"/>
                </a:solidFill>
              </a:rPr>
              <a:t>, </a:t>
            </a:r>
            <a:r>
              <a:rPr sz="3600">
                <a:solidFill>
                  <a:schemeClr val="tx1"/>
                </a:solidFill>
              </a:rPr>
              <a:t>domain</a:t>
            </a:r>
            <a:r>
              <a:rPr sz="3600">
                <a:solidFill>
                  <a:schemeClr val="tx1"/>
                </a:solidFill>
              </a:rPr>
              <a:t>, </a:t>
            </a:r>
            <a:r>
              <a:rPr sz="3600">
                <a:solidFill>
                  <a:schemeClr val="tx1"/>
                </a:solidFill>
              </a:rPr>
              <a:t>data</a:t>
            </a:r>
            <a:endParaRPr sz="3600">
              <a:solidFill>
                <a:schemeClr val="tx1"/>
              </a:solidFill>
            </a:endParaRPr>
          </a:p>
          <a:p>
            <a:pPr marL="482137" indent="-482137">
              <a:buAutoNum type="arabicPeriod"/>
              <a:defRPr/>
            </a:pPr>
            <a:r>
              <a:rPr sz="3600">
                <a:solidFill>
                  <a:schemeClr val="tx1"/>
                </a:solidFill>
              </a:rPr>
              <a:t>Зависимости направленные к доменному слою через абстракции и </a:t>
            </a:r>
            <a:r>
              <a:rPr sz="3600">
                <a:solidFill>
                  <a:schemeClr val="tx1"/>
                </a:solidFill>
              </a:rPr>
              <a:t>dependency injection</a:t>
            </a:r>
            <a:endParaRPr sz="3600">
              <a:solidFill>
                <a:schemeClr val="tx1"/>
              </a:solidFill>
            </a:endParaRPr>
          </a:p>
          <a:p>
            <a:pPr marL="482137" indent="-482137">
              <a:buAutoNum type="arabicPeriod"/>
              <a:defRPr/>
            </a:pPr>
            <a:r>
              <a:rPr sz="3600">
                <a:solidFill>
                  <a:schemeClr val="tx1"/>
                </a:solidFill>
              </a:rPr>
              <a:t>Общая инфраструктура вынесена в </a:t>
            </a:r>
            <a:r>
              <a:rPr sz="3600">
                <a:solidFill>
                  <a:schemeClr val="tx1"/>
                </a:solidFill>
              </a:rPr>
              <a:t>core</a:t>
            </a:r>
            <a:r>
              <a:rPr sz="3600">
                <a:solidFill>
                  <a:schemeClr val="tx1"/>
                </a:solidFill>
              </a:rPr>
              <a:t>: роутинг, сеть, хранилище, тема, локализация и ошибки</a:t>
            </a:r>
            <a:endParaRPr sz="36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241769" name=""/>
          <p:cNvSpPr txBox="1"/>
          <p:nvPr/>
        </p:nvSpPr>
        <p:spPr bwMode="auto">
          <a:xfrm rot="0" flipH="0" flipV="0">
            <a:off x="360000" y="360000"/>
            <a:ext cx="11521799" cy="5573683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/>
              <a:t>Технологический стек:</a:t>
            </a:r>
            <a:endParaRPr sz="3600" b="1"/>
          </a:p>
          <a:p>
            <a:pPr marL="482137" indent="-482137">
              <a:buAutoNum type="arabicPeriod"/>
              <a:defRPr/>
            </a:pPr>
            <a:r>
              <a:rPr sz="3600"/>
              <a:t>UI: Material 3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State management: flutter_bloc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Навигация: go_router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Dependency injection: get_it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HTTP и API: dio, retrofit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Локальное хранение: sqflite, shared_preferences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Прочее: fl_chart - графики, intl - локализация, connectivity_plus - проверка сети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290445" name=""/>
          <p:cNvSpPr txBox="1"/>
          <p:nvPr/>
        </p:nvSpPr>
        <p:spPr bwMode="auto">
          <a:xfrm rot="0" flipH="0" flipV="0">
            <a:off x="360000" y="360000"/>
            <a:ext cx="11520360" cy="3749683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/>
              <a:t>Возможные направления развития:</a:t>
            </a:r>
            <a:endParaRPr sz="3600" b="1"/>
          </a:p>
          <a:p>
            <a:pPr marL="482137" indent="-482137">
              <a:buAutoNum type="arabicPeriod"/>
              <a:defRPr/>
            </a:pPr>
            <a:r>
              <a:rPr sz="3600"/>
              <a:t>Push-уведомления по ценовым алертам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Онлайн обновления данных через WebSocket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Портфель пользователя и расчет доходности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Расширенное покрытие тестами</a:t>
            </a:r>
            <a:endParaRPr sz="3600"/>
          </a:p>
          <a:p>
            <a:pPr marL="482137" indent="-482137">
              <a:buAutoNum type="arabicPeriod"/>
              <a:defRPr/>
            </a:pPr>
            <a:r>
              <a:rPr sz="3600"/>
              <a:t>Публикация сборок и CI/CD пайплайн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873509" name=""/>
          <p:cNvSpPr txBox="1"/>
          <p:nvPr/>
        </p:nvSpPr>
        <p:spPr bwMode="auto">
          <a:xfrm rot="0" flipH="0" flipV="0">
            <a:off x="360000" y="360000"/>
            <a:ext cx="11520360" cy="5438572"/>
          </a:xfrm>
          <a:prstGeom prst="flowChartAlternateProcess">
            <a:avLst/>
          </a:prstGeom>
          <a:solidFill>
            <a:schemeClr val="bg1"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/>
              <a:t>Итоги и оценка достижения целей:</a:t>
            </a:r>
            <a:endParaRPr sz="3600" b="1"/>
          </a:p>
          <a:p>
            <a:pPr marL="482137" indent="-482137">
              <a:buAutoNum type="arabicPeriod"/>
              <a:defRPr/>
            </a:pPr>
            <a:r>
              <a:rPr sz="2800"/>
              <a:t>Реализован работоспособный прототип для мониторинга криптовалютного рынка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Основные цели достигнуты: рынок, деталка по активу, график цены, избранное, настройки и offline-first поведение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Проект демонстрирует работу с UI, сетью, локальным хранилищем, локализацией и состоянием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Архитектура позволяет развивать приложение без переписывания ключевых модулей</a:t>
            </a:r>
            <a:endParaRPr sz="2800"/>
          </a:p>
          <a:p>
            <a:pPr marL="482137" indent="-482137">
              <a:buAutoNum type="arabicPeriod"/>
              <a:defRPr/>
            </a:pPr>
            <a:r>
              <a:rPr sz="2800"/>
              <a:t>Проект можно использовать как демонстратор прикладной Flutter-разработки и архитектурного подхода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Иван Трусенев</cp:lastModifiedBy>
  <cp:revision>8</cp:revision>
  <dcterms:created xsi:type="dcterms:W3CDTF">2023-08-25T13:22:51Z</dcterms:created>
  <dcterms:modified xsi:type="dcterms:W3CDTF">2026-04-26T17:18:55Z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